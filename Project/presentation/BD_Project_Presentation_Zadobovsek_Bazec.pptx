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Mon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Mon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Mono-italic.fntdata"/><Relationship Id="rId6" Type="http://schemas.openxmlformats.org/officeDocument/2006/relationships/slide" Target="slides/slide1.xml"/><Relationship Id="rId18" Type="http://schemas.openxmlformats.org/officeDocument/2006/relationships/font" Target="fonts/RobotoMon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5c475c4e7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5c475c4e7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5c475c4e7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5c475c4e7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First, we used </a:t>
            </a:r>
            <a:r>
              <a:rPr lang="en">
                <a:solidFill>
                  <a:srgbClr val="188038"/>
                </a:solidFill>
                <a:latin typeface="Roboto Mono"/>
                <a:ea typeface="Roboto Mono"/>
                <a:cs typeface="Roboto Mono"/>
                <a:sym typeface="Roboto Mono"/>
              </a:rPr>
              <a:t>missing_data.py</a:t>
            </a:r>
            <a:r>
              <a:rPr lang="en">
                <a:solidFill>
                  <a:schemeClr val="dk1"/>
                </a:solidFill>
              </a:rPr>
              <a:t> on the Arnes HPC cluster to download parquet files that were missing from the provided dataset. Then </a:t>
            </a:r>
            <a:r>
              <a:rPr lang="en">
                <a:solidFill>
                  <a:srgbClr val="188038"/>
                </a:solidFill>
                <a:latin typeface="Roboto Mono"/>
                <a:ea typeface="Roboto Mono"/>
                <a:cs typeface="Roboto Mono"/>
                <a:sym typeface="Roboto Mono"/>
              </a:rPr>
              <a:t>snowflake.py</a:t>
            </a:r>
            <a:r>
              <a:rPr lang="en">
                <a:solidFill>
                  <a:schemeClr val="dk1"/>
                </a:solidFill>
              </a:rPr>
              <a:t> uploaded all raw parquet files into Snowflake internal stages in the BRONZE layer. Finally, </a:t>
            </a:r>
            <a:r>
              <a:rPr lang="en">
                <a:solidFill>
                  <a:srgbClr val="188038"/>
                </a:solidFill>
                <a:latin typeface="Roboto Mono"/>
                <a:ea typeface="Roboto Mono"/>
                <a:cs typeface="Roboto Mono"/>
                <a:sym typeface="Roboto Mono"/>
              </a:rPr>
              <a:t>t0.sql</a:t>
            </a:r>
            <a:r>
              <a:rPr lang="en">
                <a:solidFill>
                  <a:schemeClr val="dk1"/>
                </a:solidFill>
              </a:rPr>
              <a:t> created schema overview tables, so we could compare column names and data types across years and datasets.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5c475c4e7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5c475c4e7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T1 we moved from the raw BRONZE layer into the SILVER layer. The main problem was that the parquet files are not perfectly consistent across years, so in </a:t>
            </a:r>
            <a:r>
              <a:rPr lang="en">
                <a:solidFill>
                  <a:srgbClr val="188038"/>
                </a:solidFill>
                <a:latin typeface="Roboto Mono"/>
                <a:ea typeface="Roboto Mono"/>
                <a:cs typeface="Roboto Mono"/>
                <a:sym typeface="Roboto Mono"/>
              </a:rPr>
              <a:t>t1.sql</a:t>
            </a:r>
            <a:r>
              <a:rPr lang="en">
                <a:solidFill>
                  <a:schemeClr val="dk1"/>
                </a:solidFill>
              </a:rPr>
              <a:t> we unified schemas, standardized column names and converted changing data types. We also added </a:t>
            </a:r>
            <a:r>
              <a:rPr lang="en">
                <a:solidFill>
                  <a:srgbClr val="188038"/>
                </a:solidFill>
                <a:latin typeface="Roboto Mono"/>
                <a:ea typeface="Roboto Mono"/>
                <a:cs typeface="Roboto Mono"/>
                <a:sym typeface="Roboto Mono"/>
              </a:rPr>
              <a:t>pickup_year</a:t>
            </a:r>
            <a:r>
              <a:rPr lang="en">
                <a:solidFill>
                  <a:schemeClr val="dk1"/>
                </a:solidFill>
              </a:rPr>
              <a:t>, </a:t>
            </a:r>
            <a:r>
              <a:rPr lang="en">
                <a:solidFill>
                  <a:srgbClr val="188038"/>
                </a:solidFill>
                <a:latin typeface="Roboto Mono"/>
                <a:ea typeface="Roboto Mono"/>
                <a:cs typeface="Roboto Mono"/>
                <a:sym typeface="Roboto Mono"/>
              </a:rPr>
              <a:t>pickup_month</a:t>
            </a:r>
            <a:r>
              <a:rPr lang="en">
                <a:solidFill>
                  <a:schemeClr val="dk1"/>
                </a:solidFill>
              </a:rPr>
              <a:t> and </a:t>
            </a:r>
            <a:r>
              <a:rPr lang="en">
                <a:solidFill>
                  <a:srgbClr val="188038"/>
                </a:solidFill>
                <a:latin typeface="Roboto Mono"/>
                <a:ea typeface="Roboto Mono"/>
                <a:cs typeface="Roboto Mono"/>
                <a:sym typeface="Roboto Mono"/>
              </a:rPr>
              <a:t>source_file</a:t>
            </a:r>
            <a:r>
              <a:rPr lang="en">
                <a:solidFill>
                  <a:schemeClr val="dk1"/>
                </a:solidFill>
              </a:rPr>
              <a:t>, which makes later filtering and quality checks easier. The result is four clean structured SILVER tables: Yellow, Green, FHV and FHVHV trips. At this stage we did not remove bad rows yet; that is done in T2.</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5c475c4e7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5c475c4e7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T2 we checked the quality of all four Silver datasets. For each dataset we calculated file-year level quality statistics and then aggregated them by year in the Gold layer. We checked things like impossible years, pickup outside the expected source month, dropoff before pickup, zero distance, negative fares, and invalid passenger count. Based on these results we created reusable clean views in the Silver layer. These clean views are now the base for later exploratory analysis and augmentation.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5c475c4e7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5c475c4e7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chart here is an example for Yellow Taxi. It shows the percentage of rows with each issue by pickup year.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5c7db22e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5c7db22e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5c7db22e0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5c7db22e0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5c7db22e0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5c7db22e0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5c7db22e0_3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e5c7db22e0_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1200"/>
              </a:spcAft>
              <a:buNone/>
            </a:pPr>
            <a:r>
              <a:rPr lang="en"/>
              <a:t>F</a:t>
            </a:r>
            <a:r>
              <a:rPr lang="en"/>
              <a:t>or T6, we implemented the streaming task. We combined Yellow and FHVHV trips for 2021 into one source table, then a Python producer replayed ordered trips into two Kafka topics: one for Yellow and one for FHVHV. From Kafka, we had two paths. The Snowflake Kafka Connector ingested messages into a Gold landing table, where we computed rolling 24-hour statistics for boroughs and top 10 locations: count, mean and standard deviation for distance, duration and fare. The second path was a custom Python consumer using BIRCH. It consumed the Kafka stream in batches, converted trips into numeric features, and incrementally built a clustering-feature tree. At the end, we summarized it into 6 clusters.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e5c7db22e0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e5c7db22e0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3.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17.png"/><Relationship Id="rId7" Type="http://schemas.openxmlformats.org/officeDocument/2006/relationships/image" Target="../media/image20.png"/><Relationship Id="rId8"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Big data project presentation</a:t>
            </a:r>
            <a:endParaRPr/>
          </a:p>
        </p:txBody>
      </p:sp>
      <p:sp>
        <p:nvSpPr>
          <p:cNvPr id="55" name="Google Shape;55;p13"/>
          <p:cNvSpPr txBox="1"/>
          <p:nvPr>
            <p:ph idx="1" type="subTitle"/>
          </p:nvPr>
        </p:nvSpPr>
        <p:spPr>
          <a:xfrm>
            <a:off x="1960750" y="2834125"/>
            <a:ext cx="57855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Matija Bažec, Matic Zadobovšek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Completed tasks so far</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b="1" lang="en" sz="2400"/>
              <a:t>T0: Data preparation</a:t>
            </a:r>
            <a:endParaRPr b="1" sz="2400"/>
          </a:p>
          <a:p>
            <a:pPr indent="-381000" lvl="0" marL="457200" rtl="0" algn="l">
              <a:spcBef>
                <a:spcPts val="0"/>
              </a:spcBef>
              <a:spcAft>
                <a:spcPts val="0"/>
              </a:spcAft>
              <a:buSzPts val="2400"/>
              <a:buChar char="-"/>
            </a:pPr>
            <a:r>
              <a:rPr b="1" lang="en" sz="2400"/>
              <a:t>T1: Data processing</a:t>
            </a:r>
            <a:endParaRPr b="1" sz="2400"/>
          </a:p>
          <a:p>
            <a:pPr indent="-381000" lvl="0" marL="457200" rtl="0" algn="l">
              <a:spcBef>
                <a:spcPts val="0"/>
              </a:spcBef>
              <a:spcAft>
                <a:spcPts val="0"/>
              </a:spcAft>
              <a:buSzPts val="2400"/>
              <a:buChar char="-"/>
            </a:pPr>
            <a:r>
              <a:rPr b="1" lang="en" sz="2400"/>
              <a:t>T2: </a:t>
            </a:r>
            <a:r>
              <a:rPr b="1" lang="en" sz="2400"/>
              <a:t>Data quality</a:t>
            </a:r>
            <a:endParaRPr b="1" sz="2400"/>
          </a:p>
          <a:p>
            <a:pPr indent="-381000" lvl="0" marL="457200" rtl="0" algn="l">
              <a:spcBef>
                <a:spcPts val="0"/>
              </a:spcBef>
              <a:spcAft>
                <a:spcPts val="0"/>
              </a:spcAft>
              <a:buSzPts val="2400"/>
              <a:buChar char="-"/>
            </a:pPr>
            <a:r>
              <a:rPr b="1" lang="en" sz="2400"/>
              <a:t>T3: Exploratory data analysis</a:t>
            </a:r>
            <a:endParaRPr b="1" sz="2400"/>
          </a:p>
          <a:p>
            <a:pPr indent="-381000" lvl="0" marL="457200" rtl="0" algn="l">
              <a:spcBef>
                <a:spcPts val="0"/>
              </a:spcBef>
              <a:spcAft>
                <a:spcPts val="0"/>
              </a:spcAft>
              <a:buSzPts val="2400"/>
              <a:buChar char="-"/>
            </a:pPr>
            <a:r>
              <a:rPr b="1" lang="en" sz="2400"/>
              <a:t>T5: Data augmentation</a:t>
            </a:r>
            <a:endParaRPr b="1" sz="2400"/>
          </a:p>
          <a:p>
            <a:pPr indent="-381000" lvl="0" marL="457200" rtl="0" algn="l">
              <a:spcBef>
                <a:spcPts val="0"/>
              </a:spcBef>
              <a:spcAft>
                <a:spcPts val="0"/>
              </a:spcAft>
              <a:buSzPts val="2400"/>
              <a:buChar char="-"/>
            </a:pPr>
            <a:r>
              <a:rPr b="1" lang="en" sz="2400"/>
              <a:t>T6: Streaming</a:t>
            </a:r>
            <a:endParaRPr b="1" sz="2400"/>
          </a:p>
          <a:p>
            <a:pPr indent="-381000" lvl="0" marL="457200" rtl="0" algn="l">
              <a:spcBef>
                <a:spcPts val="0"/>
              </a:spcBef>
              <a:spcAft>
                <a:spcPts val="0"/>
              </a:spcAft>
              <a:buSzPts val="2400"/>
              <a:buChar char="-"/>
            </a:pPr>
            <a:r>
              <a:rPr b="1" lang="en" sz="2400"/>
              <a:t>T8: FHVHV market impact</a:t>
            </a:r>
            <a:endParaRPr b="1"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77450" y="743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400">
                <a:solidFill>
                  <a:schemeClr val="dk2"/>
                </a:solidFill>
              </a:rPr>
              <a:t>T0: Data preparation (BRONZE layer)</a:t>
            </a:r>
            <a:endParaRPr b="1"/>
          </a:p>
        </p:txBody>
      </p:sp>
      <p:pic>
        <p:nvPicPr>
          <p:cNvPr id="67" name="Google Shape;67;p15"/>
          <p:cNvPicPr preferRelativeResize="0"/>
          <p:nvPr/>
        </p:nvPicPr>
        <p:blipFill>
          <a:blip r:embed="rId3">
            <a:alphaModFix/>
          </a:blip>
          <a:stretch>
            <a:fillRect/>
          </a:stretch>
        </p:blipFill>
        <p:spPr>
          <a:xfrm>
            <a:off x="549550" y="1150275"/>
            <a:ext cx="3158775" cy="480900"/>
          </a:xfrm>
          <a:prstGeom prst="rect">
            <a:avLst/>
          </a:prstGeom>
          <a:noFill/>
          <a:ln>
            <a:noFill/>
          </a:ln>
        </p:spPr>
      </p:pic>
      <p:pic>
        <p:nvPicPr>
          <p:cNvPr id="68" name="Google Shape;68;p15"/>
          <p:cNvPicPr preferRelativeResize="0"/>
          <p:nvPr/>
        </p:nvPicPr>
        <p:blipFill>
          <a:blip r:embed="rId4">
            <a:alphaModFix/>
          </a:blip>
          <a:stretch>
            <a:fillRect/>
          </a:stretch>
        </p:blipFill>
        <p:spPr>
          <a:xfrm>
            <a:off x="5779125" y="1233562"/>
            <a:ext cx="2143125" cy="314325"/>
          </a:xfrm>
          <a:prstGeom prst="rect">
            <a:avLst/>
          </a:prstGeom>
          <a:noFill/>
          <a:ln>
            <a:noFill/>
          </a:ln>
        </p:spPr>
      </p:pic>
      <p:cxnSp>
        <p:nvCxnSpPr>
          <p:cNvPr id="69" name="Google Shape;69;p15"/>
          <p:cNvCxnSpPr/>
          <p:nvPr/>
        </p:nvCxnSpPr>
        <p:spPr>
          <a:xfrm rot="10800000">
            <a:off x="3827500" y="1399400"/>
            <a:ext cx="1813800" cy="0"/>
          </a:xfrm>
          <a:prstGeom prst="straightConnector1">
            <a:avLst/>
          </a:prstGeom>
          <a:noFill/>
          <a:ln cap="flat" cmpd="sng" w="9525">
            <a:solidFill>
              <a:schemeClr val="dk2"/>
            </a:solidFill>
            <a:prstDash val="solid"/>
            <a:round/>
            <a:headEnd len="med" w="med" type="none"/>
            <a:tailEnd len="med" w="med" type="triangle"/>
          </a:ln>
        </p:spPr>
      </p:cxnSp>
      <p:sp>
        <p:nvSpPr>
          <p:cNvPr id="70" name="Google Shape;70;p15"/>
          <p:cNvSpPr txBox="1"/>
          <p:nvPr/>
        </p:nvSpPr>
        <p:spPr>
          <a:xfrm>
            <a:off x="3715000" y="680125"/>
            <a:ext cx="20388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AutoNum type="arabicPeriod"/>
            </a:pPr>
            <a:r>
              <a:rPr lang="en" sz="1800">
                <a:solidFill>
                  <a:schemeClr val="dk2"/>
                </a:solidFill>
              </a:rPr>
              <a:t>Get missing parquet files</a:t>
            </a:r>
            <a:endParaRPr sz="1800">
              <a:solidFill>
                <a:schemeClr val="dk2"/>
              </a:solidFill>
            </a:endParaRPr>
          </a:p>
        </p:txBody>
      </p:sp>
      <p:cxnSp>
        <p:nvCxnSpPr>
          <p:cNvPr id="71" name="Google Shape;71;p15"/>
          <p:cNvCxnSpPr/>
          <p:nvPr/>
        </p:nvCxnSpPr>
        <p:spPr>
          <a:xfrm flipH="1">
            <a:off x="2192450" y="1770125"/>
            <a:ext cx="6600" cy="1145100"/>
          </a:xfrm>
          <a:prstGeom prst="straightConnector1">
            <a:avLst/>
          </a:prstGeom>
          <a:noFill/>
          <a:ln cap="flat" cmpd="sng" w="9525">
            <a:solidFill>
              <a:schemeClr val="dk2"/>
            </a:solidFill>
            <a:prstDash val="solid"/>
            <a:round/>
            <a:headEnd len="med" w="med" type="none"/>
            <a:tailEnd len="med" w="med" type="triangle"/>
          </a:ln>
        </p:spPr>
      </p:cxnSp>
      <p:sp>
        <p:nvSpPr>
          <p:cNvPr id="72" name="Google Shape;72;p15"/>
          <p:cNvSpPr txBox="1"/>
          <p:nvPr/>
        </p:nvSpPr>
        <p:spPr>
          <a:xfrm>
            <a:off x="2238925" y="1697300"/>
            <a:ext cx="1476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2. Upload to Snowflake BRONZE stage</a:t>
            </a:r>
            <a:endParaRPr sz="1800">
              <a:solidFill>
                <a:schemeClr val="dk2"/>
              </a:solidFill>
            </a:endParaRPr>
          </a:p>
        </p:txBody>
      </p:sp>
      <p:pic>
        <p:nvPicPr>
          <p:cNvPr id="73" name="Google Shape;73;p15"/>
          <p:cNvPicPr preferRelativeResize="0"/>
          <p:nvPr/>
        </p:nvPicPr>
        <p:blipFill>
          <a:blip r:embed="rId5">
            <a:alphaModFix/>
          </a:blip>
          <a:stretch>
            <a:fillRect/>
          </a:stretch>
        </p:blipFill>
        <p:spPr>
          <a:xfrm>
            <a:off x="1164100" y="2990288"/>
            <a:ext cx="2181225" cy="257175"/>
          </a:xfrm>
          <a:prstGeom prst="rect">
            <a:avLst/>
          </a:prstGeom>
          <a:noFill/>
          <a:ln>
            <a:noFill/>
          </a:ln>
        </p:spPr>
      </p:pic>
      <p:pic>
        <p:nvPicPr>
          <p:cNvPr id="74" name="Google Shape;74;p15"/>
          <p:cNvPicPr preferRelativeResize="0"/>
          <p:nvPr/>
        </p:nvPicPr>
        <p:blipFill>
          <a:blip r:embed="rId6">
            <a:alphaModFix/>
          </a:blip>
          <a:stretch>
            <a:fillRect/>
          </a:stretch>
        </p:blipFill>
        <p:spPr>
          <a:xfrm>
            <a:off x="5555375" y="2383526"/>
            <a:ext cx="2846325" cy="1470725"/>
          </a:xfrm>
          <a:prstGeom prst="rect">
            <a:avLst/>
          </a:prstGeom>
          <a:noFill/>
          <a:ln>
            <a:noFill/>
          </a:ln>
        </p:spPr>
      </p:pic>
      <p:cxnSp>
        <p:nvCxnSpPr>
          <p:cNvPr id="75" name="Google Shape;75;p15"/>
          <p:cNvCxnSpPr/>
          <p:nvPr/>
        </p:nvCxnSpPr>
        <p:spPr>
          <a:xfrm flipH="1" rot="10800000">
            <a:off x="3391663" y="3107175"/>
            <a:ext cx="2037900" cy="11700"/>
          </a:xfrm>
          <a:prstGeom prst="straightConnector1">
            <a:avLst/>
          </a:prstGeom>
          <a:noFill/>
          <a:ln cap="flat" cmpd="sng" w="9525">
            <a:solidFill>
              <a:schemeClr val="dk2"/>
            </a:solidFill>
            <a:prstDash val="solid"/>
            <a:round/>
            <a:headEnd len="med" w="med" type="none"/>
            <a:tailEnd len="med" w="med" type="triangle"/>
          </a:ln>
        </p:spPr>
      </p:cxnSp>
      <p:pic>
        <p:nvPicPr>
          <p:cNvPr id="76" name="Google Shape;76;p15"/>
          <p:cNvPicPr preferRelativeResize="0"/>
          <p:nvPr/>
        </p:nvPicPr>
        <p:blipFill>
          <a:blip r:embed="rId7">
            <a:alphaModFix/>
          </a:blip>
          <a:stretch>
            <a:fillRect/>
          </a:stretch>
        </p:blipFill>
        <p:spPr>
          <a:xfrm>
            <a:off x="1005875" y="3350325"/>
            <a:ext cx="2444675" cy="1712875"/>
          </a:xfrm>
          <a:prstGeom prst="rect">
            <a:avLst/>
          </a:prstGeom>
          <a:noFill/>
          <a:ln>
            <a:noFill/>
          </a:ln>
        </p:spPr>
      </p:pic>
      <p:cxnSp>
        <p:nvCxnSpPr>
          <p:cNvPr id="77" name="Google Shape;77;p15"/>
          <p:cNvCxnSpPr/>
          <p:nvPr/>
        </p:nvCxnSpPr>
        <p:spPr>
          <a:xfrm flipH="1">
            <a:off x="3589200" y="3590525"/>
            <a:ext cx="1813800" cy="13200"/>
          </a:xfrm>
          <a:prstGeom prst="straightConnector1">
            <a:avLst/>
          </a:prstGeom>
          <a:noFill/>
          <a:ln cap="flat" cmpd="sng" w="9525">
            <a:solidFill>
              <a:schemeClr val="dk2"/>
            </a:solidFill>
            <a:prstDash val="solid"/>
            <a:round/>
            <a:headEnd len="med" w="med" type="none"/>
            <a:tailEnd len="med" w="med" type="triangle"/>
          </a:ln>
        </p:spPr>
      </p:cxnSp>
      <p:sp>
        <p:nvSpPr>
          <p:cNvPr id="78" name="Google Shape;78;p15"/>
          <p:cNvSpPr txBox="1"/>
          <p:nvPr/>
        </p:nvSpPr>
        <p:spPr>
          <a:xfrm>
            <a:off x="3501550" y="3567941"/>
            <a:ext cx="2002800" cy="8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3. Tables with info about column names and data types</a:t>
            </a:r>
            <a:endParaRPr sz="1800">
              <a:solidFill>
                <a:schemeClr val="dk2"/>
              </a:solidFill>
            </a:endParaRPr>
          </a:p>
        </p:txBody>
      </p:sp>
      <p:pic>
        <p:nvPicPr>
          <p:cNvPr id="79" name="Google Shape;79;p15"/>
          <p:cNvPicPr preferRelativeResize="0"/>
          <p:nvPr/>
        </p:nvPicPr>
        <p:blipFill>
          <a:blip r:embed="rId8">
            <a:alphaModFix/>
          </a:blip>
          <a:stretch>
            <a:fillRect/>
          </a:stretch>
        </p:blipFill>
        <p:spPr>
          <a:xfrm>
            <a:off x="3405625" y="2509398"/>
            <a:ext cx="2010004" cy="4808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106475" y="10080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400">
                <a:solidFill>
                  <a:schemeClr val="dk2"/>
                </a:solidFill>
              </a:rPr>
              <a:t>T1: Data processing (SILVER layer)</a:t>
            </a:r>
            <a:endParaRPr/>
          </a:p>
        </p:txBody>
      </p:sp>
      <p:pic>
        <p:nvPicPr>
          <p:cNvPr id="85" name="Google Shape;85;p16"/>
          <p:cNvPicPr preferRelativeResize="0"/>
          <p:nvPr/>
        </p:nvPicPr>
        <p:blipFill>
          <a:blip r:embed="rId3">
            <a:alphaModFix/>
          </a:blip>
          <a:stretch>
            <a:fillRect/>
          </a:stretch>
        </p:blipFill>
        <p:spPr>
          <a:xfrm>
            <a:off x="5629801" y="618259"/>
            <a:ext cx="3069374" cy="1874300"/>
          </a:xfrm>
          <a:prstGeom prst="rect">
            <a:avLst/>
          </a:prstGeom>
          <a:noFill/>
          <a:ln>
            <a:noFill/>
          </a:ln>
        </p:spPr>
      </p:pic>
      <p:pic>
        <p:nvPicPr>
          <p:cNvPr id="86" name="Google Shape;86;p16"/>
          <p:cNvPicPr preferRelativeResize="0"/>
          <p:nvPr/>
        </p:nvPicPr>
        <p:blipFill>
          <a:blip r:embed="rId4">
            <a:alphaModFix/>
          </a:blip>
          <a:stretch>
            <a:fillRect/>
          </a:stretch>
        </p:blipFill>
        <p:spPr>
          <a:xfrm>
            <a:off x="377905" y="680120"/>
            <a:ext cx="2625944" cy="1831250"/>
          </a:xfrm>
          <a:prstGeom prst="rect">
            <a:avLst/>
          </a:prstGeom>
          <a:noFill/>
          <a:ln>
            <a:noFill/>
          </a:ln>
        </p:spPr>
      </p:pic>
      <p:pic>
        <p:nvPicPr>
          <p:cNvPr id="87" name="Google Shape;87;p16"/>
          <p:cNvPicPr preferRelativeResize="0"/>
          <p:nvPr/>
        </p:nvPicPr>
        <p:blipFill>
          <a:blip r:embed="rId5">
            <a:alphaModFix/>
          </a:blip>
          <a:stretch>
            <a:fillRect/>
          </a:stretch>
        </p:blipFill>
        <p:spPr>
          <a:xfrm>
            <a:off x="663275" y="2571750"/>
            <a:ext cx="7563484" cy="2566699"/>
          </a:xfrm>
          <a:prstGeom prst="rect">
            <a:avLst/>
          </a:prstGeom>
          <a:noFill/>
          <a:ln>
            <a:noFill/>
          </a:ln>
        </p:spPr>
      </p:pic>
      <p:cxnSp>
        <p:nvCxnSpPr>
          <p:cNvPr id="88" name="Google Shape;88;p16"/>
          <p:cNvCxnSpPr/>
          <p:nvPr/>
        </p:nvCxnSpPr>
        <p:spPr>
          <a:xfrm>
            <a:off x="3006675" y="2061375"/>
            <a:ext cx="2535300" cy="13200"/>
          </a:xfrm>
          <a:prstGeom prst="straightConnector1">
            <a:avLst/>
          </a:prstGeom>
          <a:noFill/>
          <a:ln cap="flat" cmpd="sng" w="9525">
            <a:solidFill>
              <a:schemeClr val="dk2"/>
            </a:solidFill>
            <a:prstDash val="solid"/>
            <a:round/>
            <a:headEnd len="med" w="med" type="none"/>
            <a:tailEnd len="med" w="med" type="triangle"/>
          </a:ln>
        </p:spPr>
      </p:cxnSp>
      <p:sp>
        <p:nvSpPr>
          <p:cNvPr id="89" name="Google Shape;89;p16"/>
          <p:cNvSpPr txBox="1"/>
          <p:nvPr/>
        </p:nvSpPr>
        <p:spPr>
          <a:xfrm>
            <a:off x="2741881" y="757275"/>
            <a:ext cx="2919300" cy="1467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2"/>
              </a:buClr>
              <a:buSzPts val="1500"/>
              <a:buChar char="-"/>
            </a:pPr>
            <a:r>
              <a:rPr lang="en" sz="1500">
                <a:solidFill>
                  <a:schemeClr val="dk2"/>
                </a:solidFill>
              </a:rPr>
              <a:t>Schema unification</a:t>
            </a:r>
            <a:endParaRPr sz="1500">
              <a:solidFill>
                <a:schemeClr val="dk2"/>
              </a:solidFill>
            </a:endParaRPr>
          </a:p>
          <a:p>
            <a:pPr indent="-323850" lvl="0" marL="457200" rtl="0" algn="l">
              <a:spcBef>
                <a:spcPts val="0"/>
              </a:spcBef>
              <a:spcAft>
                <a:spcPts val="0"/>
              </a:spcAft>
              <a:buClr>
                <a:schemeClr val="dk2"/>
              </a:buClr>
              <a:buSzPts val="1500"/>
              <a:buChar char="-"/>
            </a:pPr>
            <a:r>
              <a:rPr lang="en" sz="1500">
                <a:solidFill>
                  <a:schemeClr val="dk2"/>
                </a:solidFill>
              </a:rPr>
              <a:t>Standardize column names and data types</a:t>
            </a:r>
            <a:endParaRPr sz="1500">
              <a:solidFill>
                <a:schemeClr val="dk2"/>
              </a:solidFill>
            </a:endParaRPr>
          </a:p>
          <a:p>
            <a:pPr indent="-323850" lvl="0" marL="457200" rtl="0" algn="l">
              <a:spcBef>
                <a:spcPts val="0"/>
              </a:spcBef>
              <a:spcAft>
                <a:spcPts val="0"/>
              </a:spcAft>
              <a:buClr>
                <a:schemeClr val="dk2"/>
              </a:buClr>
              <a:buSzPts val="1500"/>
              <a:buChar char="-"/>
            </a:pPr>
            <a:r>
              <a:rPr lang="en" sz="1500">
                <a:solidFill>
                  <a:schemeClr val="dk2"/>
                </a:solidFill>
              </a:rPr>
              <a:t>Add pickup_year, pickup_month</a:t>
            </a:r>
            <a:endParaRPr sz="15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119731" y="279539"/>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400">
                <a:solidFill>
                  <a:schemeClr val="dk2"/>
                </a:solidFill>
              </a:rPr>
              <a:t>T2: Data quality (GOLD layer summaries)</a:t>
            </a:r>
            <a:endParaRPr/>
          </a:p>
        </p:txBody>
      </p:sp>
      <p:pic>
        <p:nvPicPr>
          <p:cNvPr id="95" name="Google Shape;95;p17"/>
          <p:cNvPicPr preferRelativeResize="0"/>
          <p:nvPr/>
        </p:nvPicPr>
        <p:blipFill>
          <a:blip r:embed="rId3">
            <a:alphaModFix/>
          </a:blip>
          <a:stretch>
            <a:fillRect/>
          </a:stretch>
        </p:blipFill>
        <p:spPr>
          <a:xfrm>
            <a:off x="161926" y="1497745"/>
            <a:ext cx="3069374" cy="1874300"/>
          </a:xfrm>
          <a:prstGeom prst="rect">
            <a:avLst/>
          </a:prstGeom>
          <a:noFill/>
          <a:ln>
            <a:noFill/>
          </a:ln>
        </p:spPr>
      </p:pic>
      <p:pic>
        <p:nvPicPr>
          <p:cNvPr id="96" name="Google Shape;96;p17"/>
          <p:cNvPicPr preferRelativeResize="0"/>
          <p:nvPr/>
        </p:nvPicPr>
        <p:blipFill>
          <a:blip r:embed="rId4">
            <a:alphaModFix/>
          </a:blip>
          <a:stretch>
            <a:fillRect/>
          </a:stretch>
        </p:blipFill>
        <p:spPr>
          <a:xfrm>
            <a:off x="6269875" y="3427463"/>
            <a:ext cx="2752725" cy="1419225"/>
          </a:xfrm>
          <a:prstGeom prst="rect">
            <a:avLst/>
          </a:prstGeom>
          <a:noFill/>
          <a:ln>
            <a:noFill/>
          </a:ln>
        </p:spPr>
      </p:pic>
      <p:pic>
        <p:nvPicPr>
          <p:cNvPr id="97" name="Google Shape;97;p17"/>
          <p:cNvPicPr preferRelativeResize="0"/>
          <p:nvPr/>
        </p:nvPicPr>
        <p:blipFill>
          <a:blip r:embed="rId5">
            <a:alphaModFix/>
          </a:blip>
          <a:stretch>
            <a:fillRect/>
          </a:stretch>
        </p:blipFill>
        <p:spPr>
          <a:xfrm>
            <a:off x="6223550" y="512025"/>
            <a:ext cx="2588575" cy="2813675"/>
          </a:xfrm>
          <a:prstGeom prst="rect">
            <a:avLst/>
          </a:prstGeom>
          <a:noFill/>
          <a:ln>
            <a:noFill/>
          </a:ln>
        </p:spPr>
      </p:pic>
      <p:cxnSp>
        <p:nvCxnSpPr>
          <p:cNvPr id="98" name="Google Shape;98;p17"/>
          <p:cNvCxnSpPr/>
          <p:nvPr/>
        </p:nvCxnSpPr>
        <p:spPr>
          <a:xfrm flipH="1" rot="10800000">
            <a:off x="3370750" y="2346050"/>
            <a:ext cx="2787000" cy="13200"/>
          </a:xfrm>
          <a:prstGeom prst="straightConnector1">
            <a:avLst/>
          </a:prstGeom>
          <a:noFill/>
          <a:ln cap="flat" cmpd="sng" w="9525">
            <a:solidFill>
              <a:schemeClr val="dk2"/>
            </a:solidFill>
            <a:prstDash val="solid"/>
            <a:round/>
            <a:headEnd len="med" w="med" type="none"/>
            <a:tailEnd len="med" w="med" type="triangle"/>
          </a:ln>
        </p:spPr>
      </p:cxnSp>
      <p:sp>
        <p:nvSpPr>
          <p:cNvPr id="99" name="Google Shape;99;p17"/>
          <p:cNvSpPr txBox="1"/>
          <p:nvPr/>
        </p:nvSpPr>
        <p:spPr>
          <a:xfrm>
            <a:off x="3317800" y="2365875"/>
            <a:ext cx="29520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 invalid pickup year</a:t>
            </a:r>
            <a:endParaRPr sz="1600"/>
          </a:p>
          <a:p>
            <a:pPr indent="0" lvl="0" marL="0" rtl="0" algn="l">
              <a:spcBef>
                <a:spcPts val="0"/>
              </a:spcBef>
              <a:spcAft>
                <a:spcPts val="0"/>
              </a:spcAft>
              <a:buNone/>
            </a:pPr>
            <a:r>
              <a:rPr lang="en" sz="1600"/>
              <a:t>- pickup outside source month</a:t>
            </a:r>
            <a:endParaRPr sz="1600"/>
          </a:p>
          <a:p>
            <a:pPr indent="0" lvl="0" marL="0" rtl="0" algn="l">
              <a:spcBef>
                <a:spcPts val="0"/>
              </a:spcBef>
              <a:spcAft>
                <a:spcPts val="0"/>
              </a:spcAft>
              <a:buNone/>
            </a:pPr>
            <a:r>
              <a:rPr lang="en" sz="1600"/>
              <a:t>- dropoff before pickup</a:t>
            </a:r>
            <a:endParaRPr sz="1600"/>
          </a:p>
          <a:p>
            <a:pPr indent="0" lvl="0" marL="0" rtl="0" algn="l">
              <a:spcBef>
                <a:spcPts val="0"/>
              </a:spcBef>
              <a:spcAft>
                <a:spcPts val="0"/>
              </a:spcAft>
              <a:buNone/>
            </a:pPr>
            <a:r>
              <a:rPr lang="en" sz="1600"/>
              <a:t>- zero/nonpositive distance</a:t>
            </a:r>
            <a:endParaRPr sz="1600"/>
          </a:p>
          <a:p>
            <a:pPr indent="0" lvl="0" marL="0" rtl="0" algn="l">
              <a:spcBef>
                <a:spcPts val="0"/>
              </a:spcBef>
              <a:spcAft>
                <a:spcPts val="0"/>
              </a:spcAft>
              <a:buNone/>
            </a:pPr>
            <a:r>
              <a:rPr lang="en" sz="1600"/>
              <a:t>- negative fare/amount</a:t>
            </a:r>
            <a:endParaRPr sz="1600"/>
          </a:p>
          <a:p>
            <a:pPr indent="0" lvl="0" marL="0" rtl="0" algn="l">
              <a:spcBef>
                <a:spcPts val="0"/>
              </a:spcBef>
              <a:spcAft>
                <a:spcPts val="0"/>
              </a:spcAft>
              <a:buNone/>
            </a:pPr>
            <a:r>
              <a:rPr lang="en" sz="1600"/>
              <a:t>- invalid passenger count</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119731" y="279539"/>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400">
                <a:solidFill>
                  <a:schemeClr val="dk2"/>
                </a:solidFill>
              </a:rPr>
              <a:t>T2: Data quality (GOLD layer)</a:t>
            </a:r>
            <a:endParaRPr/>
          </a:p>
        </p:txBody>
      </p:sp>
      <p:pic>
        <p:nvPicPr>
          <p:cNvPr id="105" name="Google Shape;105;p18"/>
          <p:cNvPicPr preferRelativeResize="0"/>
          <p:nvPr/>
        </p:nvPicPr>
        <p:blipFill>
          <a:blip r:embed="rId3">
            <a:alphaModFix/>
          </a:blip>
          <a:stretch>
            <a:fillRect/>
          </a:stretch>
        </p:blipFill>
        <p:spPr>
          <a:xfrm>
            <a:off x="1" y="825075"/>
            <a:ext cx="9093376" cy="43646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45833"/>
              <a:buFont typeface="Arial"/>
              <a:buNone/>
            </a:pPr>
            <a:r>
              <a:rPr b="1" lang="en" sz="2400">
                <a:solidFill>
                  <a:schemeClr val="dk2"/>
                </a:solidFill>
              </a:rPr>
              <a:t>T3: Exploratory data analysis</a:t>
            </a:r>
            <a:endParaRPr/>
          </a:p>
          <a:p>
            <a:pPr indent="0" lvl="0" marL="0" rtl="0" algn="l">
              <a:spcBef>
                <a:spcPts val="1200"/>
              </a:spcBef>
              <a:spcAft>
                <a:spcPts val="0"/>
              </a:spcAft>
              <a:buNone/>
            </a:pPr>
            <a:r>
              <a:t/>
            </a:r>
            <a:endParaRPr/>
          </a:p>
        </p:txBody>
      </p:sp>
      <p:pic>
        <p:nvPicPr>
          <p:cNvPr id="111" name="Google Shape;111;p19"/>
          <p:cNvPicPr preferRelativeResize="0"/>
          <p:nvPr/>
        </p:nvPicPr>
        <p:blipFill>
          <a:blip r:embed="rId3">
            <a:alphaModFix/>
          </a:blip>
          <a:stretch>
            <a:fillRect/>
          </a:stretch>
        </p:blipFill>
        <p:spPr>
          <a:xfrm>
            <a:off x="311708" y="1310888"/>
            <a:ext cx="8520600" cy="309958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45833"/>
              <a:buFont typeface="Arial"/>
              <a:buNone/>
            </a:pPr>
            <a:r>
              <a:rPr b="1" lang="en" sz="2400">
                <a:solidFill>
                  <a:schemeClr val="dk2"/>
                </a:solidFill>
              </a:rPr>
              <a:t>T3: Exploratory data analysis</a:t>
            </a:r>
            <a:endParaRPr/>
          </a:p>
          <a:p>
            <a:pPr indent="0" lvl="0" marL="0" rtl="0" algn="l">
              <a:spcBef>
                <a:spcPts val="1200"/>
              </a:spcBef>
              <a:spcAft>
                <a:spcPts val="0"/>
              </a:spcAft>
              <a:buNone/>
            </a:pPr>
            <a:r>
              <a:t/>
            </a:r>
            <a:endParaRPr/>
          </a:p>
        </p:txBody>
      </p:sp>
      <p:pic>
        <p:nvPicPr>
          <p:cNvPr id="117" name="Google Shape;117;p20"/>
          <p:cNvPicPr preferRelativeResize="0"/>
          <p:nvPr/>
        </p:nvPicPr>
        <p:blipFill>
          <a:blip r:embed="rId3">
            <a:alphaModFix/>
          </a:blip>
          <a:stretch>
            <a:fillRect/>
          </a:stretch>
        </p:blipFill>
        <p:spPr>
          <a:xfrm>
            <a:off x="311700" y="1152475"/>
            <a:ext cx="4260298" cy="1623363"/>
          </a:xfrm>
          <a:prstGeom prst="rect">
            <a:avLst/>
          </a:prstGeom>
          <a:noFill/>
          <a:ln>
            <a:noFill/>
          </a:ln>
        </p:spPr>
      </p:pic>
      <p:pic>
        <p:nvPicPr>
          <p:cNvPr id="118" name="Google Shape;118;p20"/>
          <p:cNvPicPr preferRelativeResize="0"/>
          <p:nvPr/>
        </p:nvPicPr>
        <p:blipFill>
          <a:blip r:embed="rId4">
            <a:alphaModFix/>
          </a:blip>
          <a:stretch>
            <a:fillRect/>
          </a:stretch>
        </p:blipFill>
        <p:spPr>
          <a:xfrm>
            <a:off x="4572000" y="1409750"/>
            <a:ext cx="4260301" cy="2324009"/>
          </a:xfrm>
          <a:prstGeom prst="rect">
            <a:avLst/>
          </a:prstGeom>
          <a:noFill/>
          <a:ln>
            <a:noFill/>
          </a:ln>
        </p:spPr>
      </p:pic>
      <p:pic>
        <p:nvPicPr>
          <p:cNvPr id="119" name="Google Shape;119;p20"/>
          <p:cNvPicPr preferRelativeResize="0"/>
          <p:nvPr/>
        </p:nvPicPr>
        <p:blipFill>
          <a:blip r:embed="rId5">
            <a:alphaModFix/>
          </a:blip>
          <a:stretch>
            <a:fillRect/>
          </a:stretch>
        </p:blipFill>
        <p:spPr>
          <a:xfrm>
            <a:off x="484025" y="2775850"/>
            <a:ext cx="3810000" cy="1890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 sz="2400">
                <a:solidFill>
                  <a:schemeClr val="dk2"/>
                </a:solidFill>
              </a:rPr>
              <a:t>T5: Data augmentation</a:t>
            </a:r>
            <a:endParaRPr b="1" sz="2400">
              <a:solidFill>
                <a:schemeClr val="dk2"/>
              </a:solidFill>
            </a:endParaRPr>
          </a:p>
          <a:p>
            <a:pPr indent="0" lvl="0" marL="0" rtl="0" algn="l">
              <a:spcBef>
                <a:spcPts val="1200"/>
              </a:spcBef>
              <a:spcAft>
                <a:spcPts val="0"/>
              </a:spcAft>
              <a:buNone/>
            </a:pPr>
            <a:r>
              <a:t/>
            </a:r>
            <a:endParaRPr/>
          </a:p>
        </p:txBody>
      </p:sp>
      <p:pic>
        <p:nvPicPr>
          <p:cNvPr id="125" name="Google Shape;125;p21"/>
          <p:cNvPicPr preferRelativeResize="0"/>
          <p:nvPr/>
        </p:nvPicPr>
        <p:blipFill>
          <a:blip r:embed="rId3">
            <a:alphaModFix/>
          </a:blip>
          <a:stretch>
            <a:fillRect/>
          </a:stretch>
        </p:blipFill>
        <p:spPr>
          <a:xfrm>
            <a:off x="3732600" y="2736532"/>
            <a:ext cx="5099699" cy="1587375"/>
          </a:xfrm>
          <a:prstGeom prst="rect">
            <a:avLst/>
          </a:prstGeom>
          <a:noFill/>
          <a:ln>
            <a:noFill/>
          </a:ln>
        </p:spPr>
      </p:pic>
      <p:pic>
        <p:nvPicPr>
          <p:cNvPr id="126" name="Google Shape;126;p21"/>
          <p:cNvPicPr preferRelativeResize="0"/>
          <p:nvPr/>
        </p:nvPicPr>
        <p:blipFill>
          <a:blip r:embed="rId4">
            <a:alphaModFix/>
          </a:blip>
          <a:stretch>
            <a:fillRect/>
          </a:stretch>
        </p:blipFill>
        <p:spPr>
          <a:xfrm>
            <a:off x="231048" y="1397463"/>
            <a:ext cx="3270700" cy="2926425"/>
          </a:xfrm>
          <a:prstGeom prst="rect">
            <a:avLst/>
          </a:prstGeom>
          <a:noFill/>
          <a:ln>
            <a:noFill/>
          </a:ln>
        </p:spPr>
      </p:pic>
      <p:pic>
        <p:nvPicPr>
          <p:cNvPr id="127" name="Google Shape;127;p21"/>
          <p:cNvPicPr preferRelativeResize="0"/>
          <p:nvPr/>
        </p:nvPicPr>
        <p:blipFill>
          <a:blip r:embed="rId5">
            <a:alphaModFix/>
          </a:blip>
          <a:stretch>
            <a:fillRect/>
          </a:stretch>
        </p:blipFill>
        <p:spPr>
          <a:xfrm>
            <a:off x="3732594" y="1017719"/>
            <a:ext cx="4626203" cy="1587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160350" y="27517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 sz="2400">
                <a:solidFill>
                  <a:schemeClr val="dk2"/>
                </a:solidFill>
              </a:rPr>
              <a:t>T6: Streaming</a:t>
            </a:r>
            <a:endParaRPr b="1" sz="2400">
              <a:solidFill>
                <a:schemeClr val="dk2"/>
              </a:solidFill>
            </a:endParaRPr>
          </a:p>
          <a:p>
            <a:pPr indent="0" lvl="0" marL="0" rtl="0" algn="l">
              <a:spcBef>
                <a:spcPts val="1200"/>
              </a:spcBef>
              <a:spcAft>
                <a:spcPts val="0"/>
              </a:spcAft>
              <a:buNone/>
            </a:pPr>
            <a:r>
              <a:t/>
            </a:r>
            <a:endParaRPr/>
          </a:p>
        </p:txBody>
      </p:sp>
      <p:cxnSp>
        <p:nvCxnSpPr>
          <p:cNvPr id="133" name="Google Shape;133;p22"/>
          <p:cNvCxnSpPr/>
          <p:nvPr/>
        </p:nvCxnSpPr>
        <p:spPr>
          <a:xfrm>
            <a:off x="2590150" y="1622387"/>
            <a:ext cx="649200" cy="2100"/>
          </a:xfrm>
          <a:prstGeom prst="straightConnector1">
            <a:avLst/>
          </a:prstGeom>
          <a:noFill/>
          <a:ln cap="flat" cmpd="sng" w="9525">
            <a:solidFill>
              <a:schemeClr val="dk2"/>
            </a:solidFill>
            <a:prstDash val="solid"/>
            <a:round/>
            <a:headEnd len="med" w="med" type="none"/>
            <a:tailEnd len="med" w="med" type="triangle"/>
          </a:ln>
        </p:spPr>
      </p:cxnSp>
      <p:pic>
        <p:nvPicPr>
          <p:cNvPr id="134" name="Google Shape;134;p22"/>
          <p:cNvPicPr preferRelativeResize="0"/>
          <p:nvPr/>
        </p:nvPicPr>
        <p:blipFill>
          <a:blip r:embed="rId3">
            <a:alphaModFix/>
          </a:blip>
          <a:stretch>
            <a:fillRect/>
          </a:stretch>
        </p:blipFill>
        <p:spPr>
          <a:xfrm>
            <a:off x="6627350" y="1538200"/>
            <a:ext cx="2516649" cy="973325"/>
          </a:xfrm>
          <a:prstGeom prst="rect">
            <a:avLst/>
          </a:prstGeom>
          <a:noFill/>
          <a:ln>
            <a:noFill/>
          </a:ln>
        </p:spPr>
      </p:pic>
      <p:pic>
        <p:nvPicPr>
          <p:cNvPr id="135" name="Google Shape;135;p22"/>
          <p:cNvPicPr preferRelativeResize="0"/>
          <p:nvPr/>
        </p:nvPicPr>
        <p:blipFill>
          <a:blip r:embed="rId4">
            <a:alphaModFix/>
          </a:blip>
          <a:stretch>
            <a:fillRect/>
          </a:stretch>
        </p:blipFill>
        <p:spPr>
          <a:xfrm>
            <a:off x="120050" y="1490387"/>
            <a:ext cx="2470100" cy="278202"/>
          </a:xfrm>
          <a:prstGeom prst="rect">
            <a:avLst/>
          </a:prstGeom>
          <a:noFill/>
          <a:ln>
            <a:noFill/>
          </a:ln>
        </p:spPr>
      </p:pic>
      <p:cxnSp>
        <p:nvCxnSpPr>
          <p:cNvPr id="136" name="Google Shape;136;p22"/>
          <p:cNvCxnSpPr/>
          <p:nvPr/>
        </p:nvCxnSpPr>
        <p:spPr>
          <a:xfrm>
            <a:off x="6040600" y="1622400"/>
            <a:ext cx="649200" cy="2100"/>
          </a:xfrm>
          <a:prstGeom prst="straightConnector1">
            <a:avLst/>
          </a:prstGeom>
          <a:noFill/>
          <a:ln cap="flat" cmpd="sng" w="9525">
            <a:solidFill>
              <a:schemeClr val="dk2"/>
            </a:solidFill>
            <a:prstDash val="solid"/>
            <a:round/>
            <a:headEnd len="med" w="med" type="none"/>
            <a:tailEnd len="med" w="med" type="triangle"/>
          </a:ln>
        </p:spPr>
      </p:cxnSp>
      <p:sp>
        <p:nvSpPr>
          <p:cNvPr id="137" name="Google Shape;137;p22"/>
          <p:cNvSpPr txBox="1"/>
          <p:nvPr/>
        </p:nvSpPr>
        <p:spPr>
          <a:xfrm>
            <a:off x="206691" y="898580"/>
            <a:ext cx="2470200" cy="3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2"/>
                </a:solidFill>
              </a:rPr>
              <a:t>Combined Yellow + FHVHV trips for 2021</a:t>
            </a:r>
            <a:endParaRPr sz="1700">
              <a:solidFill>
                <a:schemeClr val="dk2"/>
              </a:solidFill>
            </a:endParaRPr>
          </a:p>
        </p:txBody>
      </p:sp>
      <p:sp>
        <p:nvSpPr>
          <p:cNvPr id="138" name="Google Shape;138;p22"/>
          <p:cNvSpPr txBox="1"/>
          <p:nvPr/>
        </p:nvSpPr>
        <p:spPr>
          <a:xfrm>
            <a:off x="3291628" y="870244"/>
            <a:ext cx="2470200" cy="3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2"/>
                </a:solidFill>
              </a:rPr>
              <a:t>Replay ordered trips into Kafka</a:t>
            </a:r>
            <a:endParaRPr sz="1700">
              <a:solidFill>
                <a:schemeClr val="dk2"/>
              </a:solidFill>
            </a:endParaRPr>
          </a:p>
        </p:txBody>
      </p:sp>
      <p:sp>
        <p:nvSpPr>
          <p:cNvPr id="139" name="Google Shape;139;p22"/>
          <p:cNvSpPr txBox="1"/>
          <p:nvPr/>
        </p:nvSpPr>
        <p:spPr>
          <a:xfrm>
            <a:off x="6650578" y="641044"/>
            <a:ext cx="2470200" cy="3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2"/>
                </a:solidFill>
              </a:rPr>
              <a:t>Kafka topics: t6-yellow-2021 / t6-fhvhv-2021</a:t>
            </a:r>
            <a:endParaRPr sz="1700">
              <a:solidFill>
                <a:schemeClr val="dk2"/>
              </a:solidFill>
            </a:endParaRPr>
          </a:p>
        </p:txBody>
      </p:sp>
      <p:pic>
        <p:nvPicPr>
          <p:cNvPr id="140" name="Google Shape;140;p22"/>
          <p:cNvPicPr preferRelativeResize="0"/>
          <p:nvPr/>
        </p:nvPicPr>
        <p:blipFill>
          <a:blip r:embed="rId5">
            <a:alphaModFix/>
          </a:blip>
          <a:stretch>
            <a:fillRect/>
          </a:stretch>
        </p:blipFill>
        <p:spPr>
          <a:xfrm>
            <a:off x="3263550" y="1490375"/>
            <a:ext cx="2731238" cy="317100"/>
          </a:xfrm>
          <a:prstGeom prst="rect">
            <a:avLst/>
          </a:prstGeom>
          <a:noFill/>
          <a:ln>
            <a:noFill/>
          </a:ln>
        </p:spPr>
      </p:pic>
      <p:cxnSp>
        <p:nvCxnSpPr>
          <p:cNvPr id="141" name="Google Shape;141;p22"/>
          <p:cNvCxnSpPr/>
          <p:nvPr/>
        </p:nvCxnSpPr>
        <p:spPr>
          <a:xfrm rot="10800000">
            <a:off x="5536375" y="2326150"/>
            <a:ext cx="1138500" cy="0"/>
          </a:xfrm>
          <a:prstGeom prst="straightConnector1">
            <a:avLst/>
          </a:prstGeom>
          <a:noFill/>
          <a:ln cap="flat" cmpd="sng" w="9525">
            <a:solidFill>
              <a:schemeClr val="dk2"/>
            </a:solidFill>
            <a:prstDash val="solid"/>
            <a:round/>
            <a:headEnd len="med" w="med" type="none"/>
            <a:tailEnd len="med" w="med" type="triangle"/>
          </a:ln>
        </p:spPr>
      </p:cxnSp>
      <p:sp>
        <p:nvSpPr>
          <p:cNvPr id="142" name="Google Shape;142;p22"/>
          <p:cNvSpPr txBox="1"/>
          <p:nvPr/>
        </p:nvSpPr>
        <p:spPr>
          <a:xfrm>
            <a:off x="3734769" y="2070782"/>
            <a:ext cx="2046600" cy="3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2"/>
                </a:solidFill>
              </a:rPr>
              <a:t>Snowflake Kafka connector</a:t>
            </a:r>
            <a:endParaRPr sz="1700">
              <a:solidFill>
                <a:schemeClr val="dk2"/>
              </a:solidFill>
            </a:endParaRPr>
          </a:p>
        </p:txBody>
      </p:sp>
      <p:pic>
        <p:nvPicPr>
          <p:cNvPr id="143" name="Google Shape;143;p22"/>
          <p:cNvPicPr preferRelativeResize="0"/>
          <p:nvPr/>
        </p:nvPicPr>
        <p:blipFill>
          <a:blip r:embed="rId6">
            <a:alphaModFix/>
          </a:blip>
          <a:stretch>
            <a:fillRect/>
          </a:stretch>
        </p:blipFill>
        <p:spPr>
          <a:xfrm>
            <a:off x="312175" y="2261100"/>
            <a:ext cx="2667000" cy="323850"/>
          </a:xfrm>
          <a:prstGeom prst="rect">
            <a:avLst/>
          </a:prstGeom>
          <a:noFill/>
          <a:ln>
            <a:noFill/>
          </a:ln>
        </p:spPr>
      </p:pic>
      <p:cxnSp>
        <p:nvCxnSpPr>
          <p:cNvPr id="144" name="Google Shape;144;p22"/>
          <p:cNvCxnSpPr/>
          <p:nvPr/>
        </p:nvCxnSpPr>
        <p:spPr>
          <a:xfrm flipH="1">
            <a:off x="3212775" y="2398975"/>
            <a:ext cx="503100" cy="6600"/>
          </a:xfrm>
          <a:prstGeom prst="straightConnector1">
            <a:avLst/>
          </a:prstGeom>
          <a:noFill/>
          <a:ln cap="flat" cmpd="sng" w="9525">
            <a:solidFill>
              <a:schemeClr val="dk2"/>
            </a:solidFill>
            <a:prstDash val="solid"/>
            <a:round/>
            <a:headEnd len="med" w="med" type="none"/>
            <a:tailEnd len="med" w="med" type="triangle"/>
          </a:ln>
        </p:spPr>
      </p:cxnSp>
      <p:cxnSp>
        <p:nvCxnSpPr>
          <p:cNvPr id="145" name="Google Shape;145;p22"/>
          <p:cNvCxnSpPr/>
          <p:nvPr/>
        </p:nvCxnSpPr>
        <p:spPr>
          <a:xfrm flipH="1">
            <a:off x="1441650" y="2584950"/>
            <a:ext cx="300" cy="767700"/>
          </a:xfrm>
          <a:prstGeom prst="straightConnector1">
            <a:avLst/>
          </a:prstGeom>
          <a:noFill/>
          <a:ln cap="flat" cmpd="sng" w="9525">
            <a:solidFill>
              <a:schemeClr val="dk2"/>
            </a:solidFill>
            <a:prstDash val="solid"/>
            <a:round/>
            <a:headEnd len="med" w="med" type="none"/>
            <a:tailEnd len="med" w="med" type="triangle"/>
          </a:ln>
        </p:spPr>
      </p:cxnSp>
      <p:sp>
        <p:nvSpPr>
          <p:cNvPr id="146" name="Google Shape;146;p22"/>
          <p:cNvSpPr txBox="1"/>
          <p:nvPr/>
        </p:nvSpPr>
        <p:spPr>
          <a:xfrm>
            <a:off x="222350" y="3392375"/>
            <a:ext cx="3000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t>Rolling 24h stats: boroughs + top 10 locations</a:t>
            </a:r>
            <a:endParaRPr sz="1700"/>
          </a:p>
        </p:txBody>
      </p:sp>
      <p:sp>
        <p:nvSpPr>
          <p:cNvPr id="147" name="Google Shape;147;p22"/>
          <p:cNvSpPr txBox="1"/>
          <p:nvPr/>
        </p:nvSpPr>
        <p:spPr>
          <a:xfrm>
            <a:off x="120050" y="1880025"/>
            <a:ext cx="3204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t>ingested messages into GOLD</a:t>
            </a:r>
            <a:endParaRPr sz="1700"/>
          </a:p>
        </p:txBody>
      </p:sp>
      <p:pic>
        <p:nvPicPr>
          <p:cNvPr id="148" name="Google Shape;148;p22"/>
          <p:cNvPicPr preferRelativeResize="0"/>
          <p:nvPr/>
        </p:nvPicPr>
        <p:blipFill>
          <a:blip r:embed="rId7">
            <a:alphaModFix/>
          </a:blip>
          <a:stretch>
            <a:fillRect/>
          </a:stretch>
        </p:blipFill>
        <p:spPr>
          <a:xfrm>
            <a:off x="312175" y="4054075"/>
            <a:ext cx="3667125" cy="600075"/>
          </a:xfrm>
          <a:prstGeom prst="rect">
            <a:avLst/>
          </a:prstGeom>
          <a:noFill/>
          <a:ln>
            <a:noFill/>
          </a:ln>
        </p:spPr>
      </p:pic>
      <p:cxnSp>
        <p:nvCxnSpPr>
          <p:cNvPr id="149" name="Google Shape;149;p22"/>
          <p:cNvCxnSpPr/>
          <p:nvPr/>
        </p:nvCxnSpPr>
        <p:spPr>
          <a:xfrm>
            <a:off x="7832425" y="2624050"/>
            <a:ext cx="0" cy="920100"/>
          </a:xfrm>
          <a:prstGeom prst="straightConnector1">
            <a:avLst/>
          </a:prstGeom>
          <a:noFill/>
          <a:ln cap="flat" cmpd="sng" w="9525">
            <a:solidFill>
              <a:schemeClr val="dk2"/>
            </a:solidFill>
            <a:prstDash val="solid"/>
            <a:round/>
            <a:headEnd len="med" w="med" type="none"/>
            <a:tailEnd len="med" w="med" type="triangle"/>
          </a:ln>
        </p:spPr>
      </p:cxnSp>
      <p:pic>
        <p:nvPicPr>
          <p:cNvPr id="150" name="Google Shape;150;p22"/>
          <p:cNvPicPr preferRelativeResize="0"/>
          <p:nvPr/>
        </p:nvPicPr>
        <p:blipFill>
          <a:blip r:embed="rId8">
            <a:alphaModFix/>
          </a:blip>
          <a:stretch>
            <a:fillRect/>
          </a:stretch>
        </p:blipFill>
        <p:spPr>
          <a:xfrm>
            <a:off x="5607900" y="3610763"/>
            <a:ext cx="3343993" cy="317100"/>
          </a:xfrm>
          <a:prstGeom prst="rect">
            <a:avLst/>
          </a:prstGeom>
          <a:noFill/>
          <a:ln>
            <a:noFill/>
          </a:ln>
        </p:spPr>
      </p:pic>
      <p:sp>
        <p:nvSpPr>
          <p:cNvPr id="151" name="Google Shape;151;p22"/>
          <p:cNvSpPr txBox="1"/>
          <p:nvPr/>
        </p:nvSpPr>
        <p:spPr>
          <a:xfrm>
            <a:off x="5084925" y="4001100"/>
            <a:ext cx="39744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t>BIRCH clustering algorithm = builds a clustering-feature tree and clusters rows</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 sz="2400">
                <a:solidFill>
                  <a:schemeClr val="dk2"/>
                </a:solidFill>
              </a:rPr>
              <a:t>T8: FHVHV market impact</a:t>
            </a:r>
            <a:endParaRPr b="1" sz="2400">
              <a:solidFill>
                <a:schemeClr val="dk2"/>
              </a:solidFill>
            </a:endParaRPr>
          </a:p>
          <a:p>
            <a:pPr indent="0" lvl="0" marL="0" rtl="0" algn="l">
              <a:spcBef>
                <a:spcPts val="1200"/>
              </a:spcBef>
              <a:spcAft>
                <a:spcPts val="0"/>
              </a:spcAft>
              <a:buNone/>
            </a:pPr>
            <a:r>
              <a:t/>
            </a:r>
            <a:endParaRPr/>
          </a:p>
        </p:txBody>
      </p:sp>
      <p:sp>
        <p:nvSpPr>
          <p:cNvPr id="157" name="Google Shape;15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8" name="Google Shape;158;p23"/>
          <p:cNvPicPr preferRelativeResize="0"/>
          <p:nvPr/>
        </p:nvPicPr>
        <p:blipFill>
          <a:blip r:embed="rId3">
            <a:alphaModFix/>
          </a:blip>
          <a:stretch>
            <a:fillRect/>
          </a:stretch>
        </p:blipFill>
        <p:spPr>
          <a:xfrm>
            <a:off x="311700" y="1152475"/>
            <a:ext cx="8492868" cy="3371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